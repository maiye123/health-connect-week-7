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6A8F0-FB89-5A4C-9743-5543DCF85DE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922963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G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7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43995" y="1325880"/>
            <a:ext cx="7273530" cy="23391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endParaRPr lang="en-GB" dirty="0"/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 err="1"/>
              <a:t>HealthConnect</a:t>
            </a:r>
            <a:r>
              <a:rPr dirty="0"/>
              <a:t> Week 7</a:t>
            </a:r>
            <a:endParaRPr lang="en-GB" dirty="0"/>
          </a:p>
          <a:p>
            <a:pPr algn="ctr">
              <a:defRPr sz="3600" b="1">
                <a:solidFill>
                  <a:srgbClr val="FFFFFF"/>
                </a:solidFill>
              </a:defRPr>
            </a:pPr>
            <a:endParaRPr dirty="0"/>
          </a:p>
          <a:p>
            <a:pPr algn="ctr">
              <a:defRPr sz="2300">
                <a:solidFill>
                  <a:srgbClr val="FFFFFF"/>
                </a:solidFill>
              </a:defRPr>
            </a:pPr>
            <a:r>
              <a:rPr dirty="0"/>
              <a:t>Data Analytics Testing, Refinement &amp; End-to-End Validation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rPr dirty="0"/>
              <a:t>Testing evidence • Cross-track validation • Refinement • Retesting • Week 8 readiness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310988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endParaRPr lang="en-GB" dirty="0">
              <a:solidFill>
                <a:srgbClr val="C00000"/>
              </a:solidFill>
            </a:endParaRPr>
          </a:p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1. Week 6 → Week 7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2828"/>
                </a:solidFill>
              </a:defRPr>
            </a:pPr>
            <a:r>
              <a:rPr lang="en-GB" dirty="0"/>
              <a:t>Week 6 output tested: appointment analysis/dashboard, core KPIs and validated no-show findings shared with Data Science.</a:t>
            </a:r>
          </a:p>
          <a:p>
            <a:pPr>
              <a:spcAft>
                <a:spcPts val="1100"/>
              </a:spcAft>
              <a:defRPr sz="1700">
                <a:solidFill>
                  <a:srgbClr val="282828"/>
                </a:solidFill>
              </a:defRPr>
            </a:pPr>
            <a:r>
              <a:rPr lang="en-GB" dirty="0"/>
              <a:t>Week 7 shift: from integration and analysis to systematic testing, refinement, retesting and evidence-based validation.</a:t>
            </a:r>
          </a:p>
          <a:p>
            <a:pPr>
              <a:spcAft>
                <a:spcPts val="1100"/>
              </a:spcAft>
              <a:defRPr sz="1700">
                <a:solidFill>
                  <a:srgbClr val="282828"/>
                </a:solidFill>
              </a:defRPr>
            </a:pPr>
            <a:r>
              <a:rPr lang="en-GB" dirty="0"/>
              <a:t>Key dependency: Data Science initially used a completed-only denominator (Attended + No-Show, n=4,737), while dashboard figures used all appointments for the relevant segment.</a:t>
            </a:r>
          </a:p>
          <a:p>
            <a:pPr>
              <a:spcAft>
                <a:spcPts val="1100"/>
              </a:spcAft>
              <a:defRPr sz="1700">
                <a:solidFill>
                  <a:srgbClr val="282828"/>
                </a:solidFill>
              </a:defRPr>
            </a:pPr>
            <a:r>
              <a:rPr lang="en-GB" dirty="0"/>
              <a:t>Week 7 objective: establish a traceable Test → Finding → Action → Retest record and identify what remains before Week 8.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2. Testing Readiness — Components &amp; Objectives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554704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was being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Connected 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KPI/dashboard calculations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Core KPI accuracy and source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Data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Key no-show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Reproducibility and segment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Data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DA ↔ DS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Methodology/denominator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Data Science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31–60 lead-time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Whether pattern holds across appointment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Data Science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Gender-stratified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Subgroup evidence requested by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Data Science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Dashboard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Neutral wording and 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Data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40319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3. Testing Record — Major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234555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Core 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Match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5,000; 1,696; 48.46%; 46.28%; 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DA ↔ DS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Comparable under same denominator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Initial ~2–3 pp difference; denominator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ISSUE → RETESTED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31–60 × appointment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Broad-based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58.1%–65.1% across all four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Gender investigation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Identify subgroup differences for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Reminder/distance differences larger for female group; lead-time similar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PASS WITH CAUTION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Data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Structural checks pass; limitations flagged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0 duplicates; 0 logical violations; missingness/date issue documented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PASS WITH FLAGS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9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Dashboard UI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Interactive values propagate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Source-level logic checked; PBIX interaction evidence not supplied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P</a:t>
                      </a:r>
                      <a:r>
                        <a:rPr lang="en-GB" dirty="0"/>
                        <a:t>ASS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35372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4. KPI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419342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Dashboard/reference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Total appointments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Unique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1,696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No-show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48.46%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48.46%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Attendance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46.28%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46.28%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Cancellation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23986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5. Analytical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668816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Previous no-show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43.5% → 53.5% → 59.4% →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Descriptive pattern retained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31–60 day 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60.49% (n=2,425)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Elevated observed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Reminder sent vs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47.36% vs 51.39%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Observed difference; no causal claim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Distance ≥20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57.29% (n=398)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Elevated observed segment; 90 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0408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>
                <a:solidFill>
                  <a:srgbClr val="C00000"/>
                </a:solidFill>
              </a:rPr>
              <a:t>6. Segment Validation — 31–60 Days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172180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No-show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Follow-up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65.14%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Diagnostic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59.55%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Specialist Consultation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59.18%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General Consultation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58.10%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60.49%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19122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7. Data Science Cross-Track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609407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DA completed-only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DS recomputation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Previous no-shows 0/1/2/3+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46.3 / 55.9 / 62.1 /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46.3 / 55.9 / 62.1 /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31–60 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Reminder sent /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49.9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49.9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Distance ≥20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31–60 by appointment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Broad-based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Broad-based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Conclusion consistent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49453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8. New Cross-Track Test — Gender Investigation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56039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Use for DS follow-up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Overall no-show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51.5%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Baseline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Previous no-shows 0→3+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45.7 → 57.8 → 58.1 →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47.2 → 53.7 → 65.9 →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Relationship shape differs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Reminder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+6.7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+2.3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Candidate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Distance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+14.6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+5.2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Candidate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Lead-time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+24.2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+25.6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Similar across groups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01969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9. Data Quality &amp; Limitations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189397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436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Implication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Duplicate appointment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previous_no_shows &gt; previous_appointments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Missing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Flag distance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Missing waiting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Flag waiting-time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Date-derived lead time vs supplied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2,905 / 5,000 differ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Use supplied booking_lead_days; document 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Reason for no-show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Not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Cannot test stated reasons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Clinic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Not present in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Cannot compare Central vs Lakeside analytically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1836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10. Dashboard Refinement &amp; Evidence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6E6E"/>
                </a:solidFill>
              </a:defRPr>
            </a:pPr>
            <a:r>
              <a:t>Week 7 refines the existing dashboard; it does not rebuild the Week 5/6 analysis.</a:t>
            </a:r>
          </a:p>
        </p:txBody>
      </p:sp>
      <p:pic>
        <p:nvPicPr>
          <p:cNvPr id="4" name="Picture 3" descr="dashboard week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049541" cy="21508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27120" y="3847658"/>
            <a:ext cx="493776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BEFORE STATE</a:t>
            </a:r>
            <a:br>
              <a:rPr dirty="0">
                <a:solidFill>
                  <a:srgbClr val="C00000"/>
                </a:solidFill>
              </a:rPr>
            </a:br>
            <a:r>
              <a:rPr dirty="0">
                <a:solidFill>
                  <a:srgbClr val="C00000"/>
                </a:solidFill>
              </a:rPr>
              <a:t>Week 5 dashboard screenshot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" y="5040630"/>
            <a:ext cx="4937760" cy="10972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0">
                <a:solidFill>
                  <a:srgbClr val="282828"/>
                </a:solidFill>
              </a:defRPr>
            </a:pPr>
            <a:r>
              <a:rPr dirty="0"/>
              <a:t>REFINEMENTS DEFINED</a:t>
            </a:r>
            <a:br>
              <a:rPr dirty="0"/>
            </a:br>
            <a:r>
              <a:rPr dirty="0"/>
              <a:t>• Neutral reminder wording</a:t>
            </a:r>
            <a:br>
              <a:rPr dirty="0"/>
            </a:br>
            <a:r>
              <a:rPr dirty="0"/>
              <a:t>• Clearer history terminology</a:t>
            </a:r>
            <a:br>
              <a:rPr dirty="0"/>
            </a:br>
            <a:r>
              <a:rPr dirty="0"/>
              <a:t>• Validation/limitation context</a:t>
            </a:r>
            <a:br>
              <a:rPr dirty="0"/>
            </a:br>
            <a:r>
              <a:rPr dirty="0"/>
              <a:t>• Gender evidence for 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2" y="4994910"/>
            <a:ext cx="4937760" cy="1143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82828"/>
                </a:solidFill>
              </a:defRPr>
            </a:pPr>
            <a:endParaRPr lang="en-GB" dirty="0"/>
          </a:p>
          <a:p>
            <a:pPr algn="ctr">
              <a:defRPr sz="1200" b="1">
                <a:solidFill>
                  <a:srgbClr val="282828"/>
                </a:solidFill>
              </a:defRPr>
            </a:pPr>
            <a:r>
              <a:rPr dirty="0"/>
              <a:t>EVIDENCE STILL REQUIRED</a:t>
            </a:r>
            <a:br>
              <a:rPr dirty="0"/>
            </a:br>
            <a:r>
              <a:rPr dirty="0"/>
              <a:t>Final Week 7 Power BI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11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3AA008-C14A-75BD-8E16-591986648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064" y="705654"/>
            <a:ext cx="5107943" cy="2538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17083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11. Test → Finding → Action → Retest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797884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Retest /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KPI recalculation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Core KPIs 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Retain definitions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DA ↔ DS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Denominator caused initial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Align to completed-only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Exact shared-figure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31–60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Elevated across all four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Retain broad-based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Gender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Reminder/distance subgroup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Provide targeted interaction 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DS model retest 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Dashboard wording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Some metrics could be read causally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Use neutral descriptive wording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Validated in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9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Filter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Source calculations reconcile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t>Capture PBIX interaction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82828"/>
                          </a:solidFill>
                        </a:defRPr>
                      </a:pPr>
                      <a:r>
                        <a:rPr lang="en-GB" dirty="0"/>
                        <a:t>Tested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5136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12. Assumptions, Risks &amp; Dependencies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141267"/>
              </p:ext>
            </p:extLst>
          </p:nvPr>
        </p:nvGraphicFramePr>
        <p:xfrm>
          <a:off x="411480" y="1143000"/>
          <a:ext cx="11384280" cy="43499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Current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Week 8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Denominator convention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Documented; DA/DS now aligned for shared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Freeze shared convention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Date/lead-time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Unresolved source-quality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Carry limitation forward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Missing distance/waiting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Documented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Retain flags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No reason/location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Data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Do not invent explanations; note future data needs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DS gender model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Retest targeted interactions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01475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13. Week 7 Project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97746"/>
              </p:ext>
            </p:extLst>
          </p:nvPr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9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Required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1. Planned to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KPI accuracy, dashboard/data agreement, filter/calculation logic, findings, segments, data quality and DA–DS dependency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2. Actually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KPIs, source-level calculations, findings, 31–60 by type, denominator reconciliation, gender analysis, data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3. Most important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Core KPIs reconciled; 31–60 broad-based; DA–DS shared figures matched after denominator alignment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4.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Denominator mismatch, date/lead-time inconsistency, missingness, missing reason/location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5. 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Neutral wording, denominator documentation, targeted gender analysis, structured test record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6. Retesting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DA–DS and segment findings revalidated; UI </a:t>
                      </a:r>
                      <a:r>
                        <a:rPr lang="en-GB" dirty="0"/>
                        <a:t>tested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7–8. 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Data Science; shared figures, lead-time segment and gender analysis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9–10. Change &amp;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Shared methodology clarified; targeted DS feature candidates provided; validated descriptive patterns retained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11–13. Challenges/decisions/limits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Source-quality issues documented; no source overwrite; no causal claims; synthetic-data limits retained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13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t>14–16. Remaining work/contribution/Week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DS model retest, metric freeze; analytics testing record supports final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90556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14. Week 8 Readiness — Required Before Final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Freeze shared KPI definitions and denominator conventions across Data Analytics and Data Science.</a:t>
            </a:r>
          </a:p>
          <a:p>
            <a:pPr>
              <a:spcAft>
                <a:spcPts val="1100"/>
              </a:spcAft>
              <a:defRPr sz="1700">
                <a:solidFill>
                  <a:srgbClr val="282828"/>
                </a:solidFill>
              </a:defRPr>
            </a:pPr>
            <a:r>
              <a:rPr lang="en-NG" sz="1700" b="1" dirty="0">
                <a:solidFill>
                  <a:srgbClr val="282828"/>
                </a:solidFill>
              </a:rPr>
              <a:t>Proposed Data Science follow-up:</a:t>
            </a:r>
            <a:r>
              <a:rPr lang="en-NG" sz="1700" dirty="0">
                <a:solidFill>
                  <a:srgbClr val="282828"/>
                </a:solidFill>
              </a:rPr>
              <a:t> test the specific interactions gender × </a:t>
            </a:r>
            <a:r>
              <a:rPr lang="en-NG" sz="1700" dirty="0" err="1">
                <a:solidFill>
                  <a:srgbClr val="282828"/>
                </a:solidFill>
              </a:rPr>
              <a:t>distance_to_clinic_km</a:t>
            </a:r>
            <a:r>
              <a:rPr lang="en-NG" sz="1700" dirty="0">
                <a:solidFill>
                  <a:srgbClr val="282828"/>
                </a:solidFill>
              </a:rPr>
              <a:t> and gender × </a:t>
            </a:r>
            <a:r>
              <a:rPr lang="en-NG" sz="1700" dirty="0" err="1">
                <a:solidFill>
                  <a:srgbClr val="282828"/>
                </a:solidFill>
              </a:rPr>
              <a:t>reminder_sent</a:t>
            </a:r>
            <a:r>
              <a:rPr lang="en-NG" sz="1700" dirty="0">
                <a:solidFill>
                  <a:srgbClr val="282828"/>
                </a:solidFill>
              </a:rPr>
              <a:t>.</a:t>
            </a:r>
            <a:endParaRPr lang="en-GB" sz="1700" dirty="0">
              <a:solidFill>
                <a:srgbClr val="282828"/>
              </a:solidFill>
            </a:endParaRPr>
          </a:p>
          <a:p>
            <a:pPr>
              <a:spcAft>
                <a:spcPts val="11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Carry forward the date/lead-time inconsistency, missing values, absent reason-for-no-show field and absent clinic-location field as documented limitations.</a:t>
            </a:r>
          </a:p>
          <a:p>
            <a:pPr>
              <a:spcAft>
                <a:spcPts val="11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Use validated findings as decision-support inputs while keeping causal language out of the final solution unless further testing supports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17888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15. Week 7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10515600" cy="10515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 dirty="0">
                <a:solidFill>
                  <a:srgbClr val="C00000"/>
                </a:solidFill>
              </a:rPr>
              <a:t>Week 7 moved the analytics work from “built and integrated” to “tested, reconciled and documented.”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4526281"/>
            <a:ext cx="5029200" cy="13258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dirty="0">
                <a:solidFill>
                  <a:srgbClr val="C00000"/>
                </a:solidFill>
              </a:rPr>
              <a:t>VALIDATED</a:t>
            </a:r>
            <a:br>
              <a:rPr dirty="0">
                <a:solidFill>
                  <a:srgbClr val="C00000"/>
                </a:solidFill>
              </a:rPr>
            </a:br>
            <a:r>
              <a:rPr dirty="0">
                <a:solidFill>
                  <a:srgbClr val="C00000"/>
                </a:solidFill>
              </a:rPr>
              <a:t>Core KPIs</a:t>
            </a:r>
            <a:br>
              <a:rPr dirty="0">
                <a:solidFill>
                  <a:srgbClr val="C00000"/>
                </a:solidFill>
              </a:rPr>
            </a:br>
            <a:r>
              <a:rPr dirty="0">
                <a:solidFill>
                  <a:srgbClr val="C00000"/>
                </a:solidFill>
              </a:rPr>
              <a:t>31–60 day pattern across appointment types</a:t>
            </a:r>
            <a:br>
              <a:rPr dirty="0">
                <a:solidFill>
                  <a:srgbClr val="C00000"/>
                </a:solidFill>
              </a:rPr>
            </a:br>
            <a:r>
              <a:rPr dirty="0">
                <a:solidFill>
                  <a:srgbClr val="C00000"/>
                </a:solidFill>
              </a:rPr>
              <a:t>DA ↔ DS shared figures after denominator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6852"/>
            <a:ext cx="5029200" cy="13258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dirty="0">
                <a:solidFill>
                  <a:srgbClr val="C00000"/>
                </a:solidFill>
              </a:rPr>
              <a:t>CROSS-TRACK</a:t>
            </a:r>
            <a:br>
              <a:rPr dirty="0">
                <a:solidFill>
                  <a:srgbClr val="C00000"/>
                </a:solidFill>
              </a:rPr>
            </a:br>
            <a:r>
              <a:rPr dirty="0">
                <a:solidFill>
                  <a:srgbClr val="C00000"/>
                </a:solidFill>
              </a:rPr>
              <a:t>Gender-stratified investigation</a:t>
            </a:r>
            <a:br>
              <a:rPr dirty="0">
                <a:solidFill>
                  <a:srgbClr val="C00000"/>
                </a:solidFill>
              </a:rPr>
            </a:br>
            <a:r>
              <a:rPr dirty="0">
                <a:solidFill>
                  <a:srgbClr val="C00000"/>
                </a:solidFill>
              </a:rPr>
              <a:t>Targeted feature candidates provided to DS</a:t>
            </a:r>
            <a:br>
              <a:rPr dirty="0">
                <a:solidFill>
                  <a:srgbClr val="C00000"/>
                </a:solidFill>
              </a:rPr>
            </a:br>
            <a:r>
              <a:rPr dirty="0">
                <a:solidFill>
                  <a:srgbClr val="C00000"/>
                </a:solidFill>
              </a:rPr>
              <a:t>Model retest remains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6E6E"/>
                </a:solidFill>
              </a:defRPr>
            </a:pPr>
            <a:r>
              <a:t>HealthConnect Week 7 | Data Analytics |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3a631d-7d37-4a93-9b26-d6c3aae3d312}" enabled="1" method="Privileged" siteId="{a05bcf50-df83-4cf8-9a6f-590abda9630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1404</Words>
  <Application>Microsoft Office PowerPoint</Application>
  <PresentationFormat>Widescreen</PresentationFormat>
  <Paragraphs>298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Oluwakemi Olorunmaiye</cp:lastModifiedBy>
  <cp:revision>2</cp:revision>
  <dcterms:created xsi:type="dcterms:W3CDTF">2013-01-27T09:14:16Z</dcterms:created>
  <dcterms:modified xsi:type="dcterms:W3CDTF">2026-09-20T17:50:45Z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Public</vt:lpwstr>
  </property>
</Properties>
</file>