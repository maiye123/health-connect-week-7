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87DBF0-4AD1-C7E9-315B-78DF73B5DE6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922963" y="63500"/>
            <a:ext cx="3714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NG" sz="1000">
                <a:solidFill>
                  <a:srgbClr val="008000">
                    <a:alpha val="50000"/>
                  </a:srgbClr>
                </a:solidFill>
                <a:latin typeface="Aptos" panose="020B0004020202020204" pitchFamily="34" charset="0"/>
              </a:rPr>
              <a:t>Public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HealthConnect | Week 8 Final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Data Analytics Track</a:t>
            </a:r>
          </a:p>
          <a:p>
            <a:pPr>
              <a:spcAft>
                <a:spcPts val="1000"/>
              </a:spcAft>
              <a:defRPr sz="1800"/>
            </a:pPr>
            <a:r>
              <a:t>From validated analysis to final decision support</a:t>
            </a:r>
          </a:p>
          <a:p>
            <a:pPr>
              <a:spcAft>
                <a:spcPts val="1000"/>
              </a:spcAft>
              <a:defRPr sz="1800"/>
            </a:pPr>
            <a:r>
              <a:t>Project: Improving Patient Appointment Attendance and Healthcare Support Using Data and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1. The Analytics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Week 4 — Problem understanding, resource review and analytical planning</a:t>
            </a:r>
          </a:p>
          <a:p>
            <a:pPr>
              <a:spcAft>
                <a:spcPts val="1000"/>
              </a:spcAft>
              <a:defRPr sz="1800"/>
            </a:pPr>
            <a:r>
              <a:t>Week 5 — EDA, KPIs, Power BI dashboard, insights and recommendations</a:t>
            </a:r>
          </a:p>
          <a:p>
            <a:pPr>
              <a:spcAft>
                <a:spcPts val="1000"/>
              </a:spcAft>
              <a:defRPr sz="1800"/>
            </a:pPr>
            <a:r>
              <a:t>Week 6 — Deeper validation + Data Science integration</a:t>
            </a:r>
          </a:p>
          <a:p>
            <a:pPr>
              <a:spcAft>
                <a:spcPts val="1000"/>
              </a:spcAft>
              <a:defRPr sz="1800"/>
            </a:pPr>
            <a:r>
              <a:t>Week 7 — KPI testing, dashboard refinement, cross-track validation and retesting</a:t>
            </a:r>
          </a:p>
          <a:p>
            <a:pPr>
              <a:spcAft>
                <a:spcPts val="1000"/>
              </a:spcAft>
              <a:defRPr sz="1800"/>
            </a:pPr>
            <a:r>
              <a:t>Week 8 — Final integration, decision support and presentation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2. Week 7 → Week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Main Week 7 output: tested and refined analytics component.</a:t>
            </a:r>
          </a:p>
          <a:p>
            <a:pPr>
              <a:spcAft>
                <a:spcPts val="1000"/>
              </a:spcAft>
              <a:defRPr sz="1800"/>
            </a:pPr>
            <a:r>
              <a:t>Testing result: core KPIs validated and key no-show patterns retained.</a:t>
            </a:r>
          </a:p>
          <a:p>
            <a:pPr>
              <a:spcAft>
                <a:spcPts val="1000"/>
              </a:spcAft>
              <a:defRPr sz="1800"/>
            </a:pPr>
            <a:r>
              <a:t>Major issue: Data Analytics and Data Science initially used different denominator conventions.</a:t>
            </a:r>
          </a:p>
          <a:p>
            <a:pPr>
              <a:spcAft>
                <a:spcPts val="1000"/>
              </a:spcAft>
              <a:defRPr sz="1800"/>
            </a:pPr>
            <a:r>
              <a:t>Resolution: denominator difference identified and documented; final cross-track figures reconciled.</a:t>
            </a:r>
          </a:p>
          <a:p>
            <a:pPr>
              <a:spcAft>
                <a:spcPts val="1000"/>
              </a:spcAft>
              <a:defRPr sz="1800"/>
            </a:pPr>
            <a:r>
              <a:t>Week 8 focus: final dashboard evidence, business interpretation, recommendations and integrated presentation.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3. Final KPIs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5,000 total appointments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1,696 unique patients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48.</a:t>
            </a:r>
            <a:r>
              <a:rPr lang="en-GB" dirty="0"/>
              <a:t>5</a:t>
            </a:r>
            <a:r>
              <a:rPr dirty="0"/>
              <a:t>% no-show rate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46.</a:t>
            </a:r>
            <a:r>
              <a:rPr lang="en-GB" dirty="0"/>
              <a:t>3</a:t>
            </a:r>
            <a:r>
              <a:rPr dirty="0"/>
              <a:t>% attendance rate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5.</a:t>
            </a:r>
            <a:r>
              <a:rPr lang="en-GB" dirty="0"/>
              <a:t>3</a:t>
            </a:r>
            <a:r>
              <a:rPr dirty="0"/>
              <a:t>% cancellation 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4. Validated No-Show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Previous no-shows: 43.5% → 53.5% → 59.4% → 68.8% across 0, 1, 2 and 3+ history bands.</a:t>
            </a:r>
          </a:p>
          <a:p>
            <a:pPr>
              <a:spcAft>
                <a:spcPts val="1000"/>
              </a:spcAft>
              <a:defRPr sz="1800"/>
            </a:pPr>
            <a:r>
              <a:t>31–60 day booking lead time: 60.5% observed no-show rate.</a:t>
            </a:r>
          </a:p>
          <a:p>
            <a:pPr>
              <a:spcAft>
                <a:spcPts val="1000"/>
              </a:spcAft>
              <a:defRPr sz="1800"/>
            </a:pPr>
            <a:r>
              <a:t>31–60 day pattern remained elevated across all four appointment types: 58.1%–65.1%.</a:t>
            </a:r>
          </a:p>
          <a:p>
            <a:pPr>
              <a:spcAft>
                <a:spcPts val="1000"/>
              </a:spcAft>
              <a:defRPr sz="1800"/>
            </a:pPr>
            <a:r>
              <a:t>Distance ≥20 km: 57.3% observed no-show rate.</a:t>
            </a:r>
          </a:p>
          <a:p>
            <a:pPr>
              <a:spcAft>
                <a:spcPts val="1000"/>
              </a:spcAft>
              <a:defRPr sz="1800"/>
            </a:pPr>
            <a:r>
              <a:t>Reminder sent: 47.4% vs 51.4% without a reminder.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5. What the Data Supports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Use prior no-show history and booking lead time as descriptive indicators for targeted operational attention.</a:t>
            </a:r>
          </a:p>
          <a:p>
            <a:pPr>
              <a:spcAft>
                <a:spcPts val="1000"/>
              </a:spcAft>
              <a:defRPr sz="1800"/>
            </a:pPr>
            <a:r>
              <a:t>Review support/confirmation workflows for longer-lead appointments.</a:t>
            </a:r>
          </a:p>
          <a:p>
            <a:pPr>
              <a:spcAft>
                <a:spcPts val="1000"/>
              </a:spcAft>
              <a:defRPr sz="1800"/>
            </a:pPr>
            <a:r>
              <a:t>Investigate accessibility/rescheduling support for longer-distance patients.</a:t>
            </a:r>
          </a:p>
          <a:p>
            <a:pPr>
              <a:spcAft>
                <a:spcPts val="1000"/>
              </a:spcAft>
              <a:defRPr sz="1800"/>
            </a:pPr>
            <a:r>
              <a:t>Treat reminder differences as a testable intervention hypothesis, not causal evidence.</a:t>
            </a:r>
          </a:p>
          <a:p>
            <a:pPr>
              <a:spcAft>
                <a:spcPts val="1000"/>
              </a:spcAft>
              <a:defRPr sz="1800"/>
            </a:pPr>
            <a:r>
              <a:t>Keep no-shows and cancellations as separate outcomes.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6. Final Power BI Refinements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KEEP: validated KPI cards and core outcome/lead-time/distance/reminder visuals.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CONFIRM: Appointment Type × Lead-Time Band.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CONFIRM: Previous No-Shows × Lead-Time Band.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CONFIRM NAMING</a:t>
            </a:r>
            <a:r>
              <a:rPr dirty="0"/>
              <a:t>: “No-Show Rate by Reminder Status”; avoid causal wording.</a:t>
            </a:r>
          </a:p>
          <a:p>
            <a:pPr>
              <a:spcAft>
                <a:spcPts val="1000"/>
              </a:spcAft>
              <a:defRPr sz="1800"/>
            </a:pPr>
            <a:r>
              <a:rPr lang="en-GB" dirty="0"/>
              <a:t>CONFIRM</a:t>
            </a:r>
            <a:r>
              <a:rPr dirty="0"/>
              <a:t>: concise Key Insights / Decision Support panel.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ADD: concise limitations/methodology note.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Evidence required: final dashboard screenshot after refinement.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7. Cross-Track Integration with Data Science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Received: independently recomputed findings, denominator alignment and a model-performance/fairness question.</a:t>
            </a:r>
          </a:p>
          <a:p>
            <a:pPr>
              <a:spcAft>
                <a:spcPts val="1000"/>
              </a:spcAft>
              <a:defRPr sz="1800"/>
            </a:pPr>
            <a:r>
              <a:t>Provided: gender-stratified analysis of previous no-shows, lead time, reminders and distance.</a:t>
            </a:r>
          </a:p>
          <a:p>
            <a:pPr>
              <a:spcAft>
                <a:spcPts val="1000"/>
              </a:spcAft>
              <a:defRPr sz="1800"/>
            </a:pPr>
            <a:r>
              <a:t>Key analytical result: lead-time effect was similar by gender; distance and reminder differences were larger for the female subgroup.</a:t>
            </a:r>
          </a:p>
          <a:p>
            <a:pPr>
              <a:spcAft>
                <a:spcPts val="1000"/>
              </a:spcAft>
              <a:defRPr sz="1800"/>
            </a:pPr>
            <a:r>
              <a:t>Contribution: provided targeted evidence for Data Science to investigate gender × distance and gender × reminder features.</a:t>
            </a:r>
          </a:p>
          <a:p>
            <a:pPr>
              <a:spcAft>
                <a:spcPts val="1000"/>
              </a:spcAft>
              <a:defRPr sz="1800"/>
            </a:pPr>
            <a:r>
              <a:t>Important: these subgroup results are descriptive and require further validation.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8. Final Decision-Support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Power BI should answer three questions: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1) Where is no-show </a:t>
            </a:r>
            <a:r>
              <a:rPr dirty="0" err="1"/>
              <a:t>behaviour</a:t>
            </a:r>
            <a:r>
              <a:rPr dirty="0"/>
              <a:t> most elevated?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2) Which observable segments should </a:t>
            </a:r>
            <a:r>
              <a:rPr dirty="0" err="1"/>
              <a:t>HealthConnect</a:t>
            </a:r>
            <a:r>
              <a:rPr dirty="0"/>
              <a:t> investigate or support?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3) What does the current data still not explain?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Recommended final pages: Executive Dashboard → </a:t>
            </a:r>
            <a:r>
              <a:rPr lang="en-GB" dirty="0"/>
              <a:t>Cross-track </a:t>
            </a:r>
            <a:r>
              <a:rPr lang="en-GB" dirty="0" err="1"/>
              <a:t>Collaboratio</a:t>
            </a:r>
            <a:r>
              <a:rPr lang="en-GB" dirty="0"/>
              <a:t> </a:t>
            </a:r>
            <a:r>
              <a:rPr dirty="0"/>
              <a:t>→ Validation / Decision Support.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9.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No stated reason-for-no-show field.</a:t>
            </a:r>
          </a:p>
          <a:p>
            <a:pPr>
              <a:spcAft>
                <a:spcPts val="1000"/>
              </a:spcAft>
              <a:defRPr sz="1800"/>
            </a:pPr>
            <a:r>
              <a:t>90 missing distance values; 60 missing waiting-time values.</a:t>
            </a:r>
          </a:p>
          <a:p>
            <a:pPr>
              <a:spcAft>
                <a:spcPts val="1000"/>
              </a:spcAft>
              <a:defRPr sz="1800"/>
            </a:pPr>
            <a:r>
              <a:t>Date representation differs from supplied booking_lead_days in 2,905 of 5,000 records.</a:t>
            </a:r>
          </a:p>
          <a:p>
            <a:pPr>
              <a:spcAft>
                <a:spcPts val="1000"/>
              </a:spcAft>
              <a:defRPr sz="1800"/>
            </a:pPr>
            <a:r>
              <a:t>Reminder comparison is observational; causation is not established.</a:t>
            </a:r>
          </a:p>
          <a:p>
            <a:pPr>
              <a:spcAft>
                <a:spcPts val="1000"/>
              </a:spcAft>
              <a:defRPr sz="1800"/>
            </a:pPr>
            <a:r>
              <a:t>No clinic-location, transport, cost, capacity, insurance or financial variables.</a:t>
            </a:r>
          </a:p>
          <a:p>
            <a:pPr>
              <a:spcAft>
                <a:spcPts val="1000"/>
              </a:spcAft>
              <a:defRPr sz="1800"/>
            </a:pPr>
            <a:r>
              <a:t>Gender-stratified findings are descriptive.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10.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Creates a single validated analytical view of appointment attendance behaviour.</a:t>
            </a:r>
          </a:p>
          <a:p>
            <a:pPr>
              <a:spcAft>
                <a:spcPts val="1000"/>
              </a:spcAft>
              <a:defRPr sz="1800"/>
            </a:pPr>
            <a:r>
              <a:t>Helps HealthConnect identify segments that warrant operational attention.</a:t>
            </a:r>
          </a:p>
          <a:p>
            <a:pPr>
              <a:spcAft>
                <a:spcPts val="1000"/>
              </a:spcAft>
              <a:defRPr sz="1800"/>
            </a:pPr>
            <a:r>
              <a:t>Provides evidence that can inform predictive modelling and final project decisions.</a:t>
            </a:r>
          </a:p>
          <a:p>
            <a:pPr>
              <a:spcAft>
                <a:spcPts val="1000"/>
              </a:spcAft>
              <a:defRPr sz="1800"/>
            </a:pPr>
            <a:r>
              <a:t>Separates observed patterns from claims the dataset cannot support.</a:t>
            </a:r>
          </a:p>
          <a:p>
            <a:pPr>
              <a:spcAft>
                <a:spcPts val="1000"/>
              </a:spcAft>
              <a:defRPr sz="1800"/>
            </a:pPr>
            <a:r>
              <a:t>Creates a portfolio-ready analytics component for the wider HealthConnect solution.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11. Final HC-POD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1585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rPr dirty="0"/>
              <a:t>Data Analytics → Data Science: validated patterns support model interpretation.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Data Analytics → Project Management: findings support business recommendations and project decisions.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All tracks: analytics provides the evidence layer for the final </a:t>
            </a:r>
            <a:r>
              <a:rPr dirty="0" err="1"/>
              <a:t>HealthConnect</a:t>
            </a:r>
            <a:r>
              <a:rPr dirty="0"/>
              <a:t> walkthrough.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The final story connects Problem → Data → Analytics → Predictive Component → Business Value.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/>
            </a:pPr>
            <a:r>
              <a:t>12. 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25880"/>
            <a:ext cx="1078992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HealthConnect moved from identifying no-show patterns to validating them and translating them into decision support.</a:t>
            </a:r>
          </a:p>
          <a:p>
            <a:pPr>
              <a:spcAft>
                <a:spcPts val="1000"/>
              </a:spcAft>
              <a:defRPr sz="1800"/>
            </a:pPr>
            <a:r>
              <a:t>My Data Analytics contribution provides the evidence layer for the final integrated solution.</a:t>
            </a:r>
          </a:p>
          <a:p>
            <a:pPr>
              <a:spcAft>
                <a:spcPts val="1000"/>
              </a:spcAft>
              <a:defRPr sz="1800"/>
            </a:pPr>
            <a:r>
              <a:t>Next step: final dashboard capture, presentation delivery and individual video submission.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ea3a631d-7d37-4a93-9b26-d6c3aae3d312}" enabled="1" method="Privileged" siteId="{a05bcf50-df83-4cf8-9a6f-590abda9630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786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Oluwakemi Olorunmaiye</cp:lastModifiedBy>
  <cp:revision>2</cp:revision>
  <dcterms:created xsi:type="dcterms:W3CDTF">2013-01-27T09:14:16Z</dcterms:created>
  <dcterms:modified xsi:type="dcterms:W3CDTF">2026-09-26T22:23:07Z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Public</vt:lpwstr>
  </property>
</Properties>
</file>